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8fb94280f949ad" /><Relationship Type="http://schemas.openxmlformats.org/officeDocument/2006/relationships/extended-properties" Target="/docProps/app.xml" Id="Re263927991d2452f" /><Relationship Type="http://schemas.openxmlformats.org/officeDocument/2006/relationships/officeDocument" Target="/ppt/presentation.xml" Id="R7a07a0e858764638" /></Relationships>
</file>

<file path=ppt/presentation.xml><?xml version="1.0" encoding="utf-8"?>
<p:presentation xmlns:p="http://schemas.openxmlformats.org/presentationml/2006/main">
  <p:sldMasterIdLst>
    <p:sldMasterId xmlns:r="http://schemas.openxmlformats.org/officeDocument/2006/relationships" id="2147483648" r:id="R3970f0608b304123"/>
  </p:sldMasterIdLst>
  <p:notesMasterIdLst>
    <p:notesMasterId xmlns:r="http://schemas.openxmlformats.org/officeDocument/2006/relationships" r:id="Rb5f744cbc781456b"/>
  </p:notesMasterIdLst>
  <p:sldIdLst>
    <p:sldId xmlns:r="http://schemas.openxmlformats.org/officeDocument/2006/relationships" id="256" r:id="R99aaf3cfc78340d1"/>
    <p:sldId xmlns:r="http://schemas.openxmlformats.org/officeDocument/2006/relationships" id="257" r:id="R278b3988d65e4e07"/>
    <p:sldId xmlns:r="http://schemas.openxmlformats.org/officeDocument/2006/relationships" id="258" r:id="R2641696f05a042df"/>
    <p:sldId xmlns:r="http://schemas.openxmlformats.org/officeDocument/2006/relationships" id="259" r:id="Rab6568e871c14196"/>
    <p:sldId xmlns:r="http://schemas.openxmlformats.org/officeDocument/2006/relationships" id="260" r:id="R40daf0f9fade412f"/>
    <p:sldId xmlns:r="http://schemas.openxmlformats.org/officeDocument/2006/relationships" id="261" r:id="R3bc5e35de7a14a3d"/>
    <p:sldId xmlns:r="http://schemas.openxmlformats.org/officeDocument/2006/relationships" id="262" r:id="Rb9ca419010fc4c58"/>
    <p:sldId xmlns:r="http://schemas.openxmlformats.org/officeDocument/2006/relationships" id="263" r:id="Rdb639af3ad0045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f3accc3f874763" /><Relationship Type="http://schemas.openxmlformats.org/officeDocument/2006/relationships/slideMaster" Target="/ppt/slideMasters/slideMaster1.xml" Id="R3970f0608b304123" /><Relationship Type="http://schemas.openxmlformats.org/officeDocument/2006/relationships/notesMaster" Target="/ppt/notesMasters/notesMaster1.xml" Id="Rb5f744cbc781456b" /><Relationship Type="http://schemas.openxmlformats.org/officeDocument/2006/relationships/presProps" Target="/ppt/presProps.xml" Id="R5133349e146d4159" /><Relationship Type="http://schemas.openxmlformats.org/officeDocument/2006/relationships/tableStyles" Target="/ppt/tableStyles.xml" Id="R3f815c5b14e541dc" /><Relationship Type="http://schemas.openxmlformats.org/officeDocument/2006/relationships/slide" Target="/ppt/slides/slide1.xml" Id="R99aaf3cfc78340d1" /><Relationship Type="http://schemas.openxmlformats.org/officeDocument/2006/relationships/slide" Target="/ppt/slides/slide2.xml" Id="R278b3988d65e4e07" /><Relationship Type="http://schemas.openxmlformats.org/officeDocument/2006/relationships/slide" Target="/ppt/slides/slide3.xml" Id="R2641696f05a042df" /><Relationship Type="http://schemas.openxmlformats.org/officeDocument/2006/relationships/slide" Target="/ppt/slides/slide4.xml" Id="Rab6568e871c14196" /><Relationship Type="http://schemas.openxmlformats.org/officeDocument/2006/relationships/slide" Target="/ppt/slides/slide5.xml" Id="R40daf0f9fade412f" /><Relationship Type="http://schemas.openxmlformats.org/officeDocument/2006/relationships/slide" Target="/ppt/slides/slide6.xml" Id="R3bc5e35de7a14a3d" /><Relationship Type="http://schemas.openxmlformats.org/officeDocument/2006/relationships/slide" Target="/ppt/slides/slide7.xml" Id="Rb9ca419010fc4c58" /><Relationship Type="http://schemas.openxmlformats.org/officeDocument/2006/relationships/slide" Target="/ppt/slides/slide8.xml" Id="Rdb639af3ad0045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47ccb189f64a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81f8731c6b48e7" /><Relationship Type="http://schemas.openxmlformats.org/officeDocument/2006/relationships/notesMaster" Target="/ppt/notesMasters/notesMaster1.xml" Id="R33d239eb079348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a7ba59c7224bf5" /><Relationship Type="http://schemas.openxmlformats.org/officeDocument/2006/relationships/notesMaster" Target="/ppt/notesMasters/notesMaster1.xml" Id="R466f82af3e2640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518dd4b5ac41fc" /><Relationship Type="http://schemas.openxmlformats.org/officeDocument/2006/relationships/notesMaster" Target="/ppt/notesMasters/notesMaster1.xml" Id="Rf5eee26d488d4b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d26213625a43f8" /><Relationship Type="http://schemas.openxmlformats.org/officeDocument/2006/relationships/notesMaster" Target="/ppt/notesMasters/notesMaster1.xml" Id="Rdc66b5ccaef240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141c8a15542fa" /><Relationship Type="http://schemas.openxmlformats.org/officeDocument/2006/relationships/notesMaster" Target="/ppt/notesMasters/notesMaster1.xml" Id="Rdf7df05ce9a044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fe55cb468b45d0" /><Relationship Type="http://schemas.openxmlformats.org/officeDocument/2006/relationships/notesMaster" Target="/ppt/notesMasters/notesMaster1.xml" Id="Rcbaa95819f7447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fc5a71eabd42af" /><Relationship Type="http://schemas.openxmlformats.org/officeDocument/2006/relationships/notesMaster" Target="/ppt/notesMasters/notesMaster1.xml" Id="Rfe40ae75359e4b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dbb6d9fc3d4a11" /><Relationship Type="http://schemas.openxmlformats.org/officeDocument/2006/relationships/notesMaster" Target="/ppt/notesMasters/notesMaster1.xml" Id="R2bc4d7dd992b4b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Introduce JobTrack as a personal application tracker. This midpoint package includes a working local dashboard, a Python API, SQLite persistence and a Chrome extension source. AWS configuration is prepared. The source is published in the private GitHub repository. No live AWS deployment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0:25–0:55. Screenshot from the running JobTrack app with fictional records. Show total, in-progress, interview and offer counts. Counts summarize all applications. The table reflects current filters. Switch to the browser for the next two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0:55–1:55. In the live browser, add Demo QA at a fictional company with an annual salary of 85000 and status Applied. Save, edit to Interview and refresh. Filter Interview and Full-time, add a salary bound, reset, then sort salary high to low. Delete only the disposable Demo QA record and confirm. Explain unknown salaries appear last and do not satisfy a salary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1:55–2:50. Open the bundled Northstar Labs page in Chrome. Run Extract current posting in the unpacked extension, review the preview, then Review in dashboard. Correct any fields and save. The screenshot shows the actual dashboard draft review. Extraction unit tests and browser import/save checks passed. Installed-extension toolbar permission flow still requires a manual Chrome check. Official API reference: https://developer.chrome.com/docs/extensions/get-started/tutorial/scripts-activetab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2:50–3:35. The extension reads active-tab structured data after a user click. It opens a URL-fragment draft in the browser dashboard. Only a reviewed save calls the same-origin REST API. Python validates input and uses parameterized SQLite queries. The database file remains on disk across process restarts. The app currently has one shared application table and no user authentication.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3:35–4:15. Eleven API/database tests and five extraction tests passed. The browser checks covered create, edit, refresh, delete, filters, sorting, reset and import review/save. A Reset button naming conflict was fixed during browser QA. Responsive layout was inspected at desktop and mobile widths. Actual Chrome toolbar loading and Docker build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CloudFormation prepares an EC2 instance, encrypted EBS root volume, source-read IAM role and SSM access. It opens no inbound ports. An authorized user accesses port 8000 through Session Manager. SQLite survives stop/start but not instance termination. No live deployment is claimed. AWS account login, VPC/subnet selection, cost approval, deployment validation and health check remain. The private GitHub repository now contains incremental source commits and a test workflow. Consult GitHub Actions for hosted run results. Official references: https://docs.aws.amazon.com/systems-manager/latest/userguide/session-manager-working-with-sessions-start.html and https://docs.aws.amazon.com/AWSCloudFormation/latest/TemplateReference/aws-properties-ec2-instance-ebs.html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5:00–5:15. Close by identifying the source repository package, presentation, demo script and deployment guide. The next steps are the manual extension check and authorized AWS deployment actions. The video recording is intentionally excluded from this work. Do not claim the original course rubric was verified because it was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89da291f994e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46f9c4d1b749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5f02aa36714d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ea8cf9d34348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aab4deb21145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b5ac7fd66f4c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E00EBE-5897-4715-A10E-4F382B1F4E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BAFAC3-FEF5-4135-9FAD-AC6593ED66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89D343-B231-487C-B4C4-82DE3DC142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3B5194-DE65-4C5B-A35A-C471FC0FED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0F7B8A-AEF0-4193-9565-C7B5DB838A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0D22F0-2F42-4223-8548-4EC886E1C2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D687EE-0641-44E4-8487-BC1E4A89B9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5D0BE7-1D91-4A40-BB02-C2C62219809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BAD342-372F-41EE-B05F-AE4556F41F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6F0750-0C5F-4082-B4CF-5E42A9AE81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f6850fa6f04d2f" /><Relationship Type="http://schemas.openxmlformats.org/officeDocument/2006/relationships/slideLayout" Target="/ppt/slideLayouts/slideLayout1.xml" Id="R13a3626efaf94fab" /><Relationship Type="http://schemas.openxmlformats.org/officeDocument/2006/relationships/slideLayout" Target="/ppt/slideLayouts/slideLayout2.xml" Id="R207c5aeef8eb4d28" /><Relationship Type="http://schemas.openxmlformats.org/officeDocument/2006/relationships/slideLayout" Target="/ppt/slideLayouts/slideLayout3.xml" Id="R52b814b5a2c740c3" /><Relationship Type="http://schemas.openxmlformats.org/officeDocument/2006/relationships/slideLayout" Target="/ppt/slideLayouts/slideLayout4.xml" Id="R55a9f8746ed74cac" /><Relationship Type="http://schemas.openxmlformats.org/officeDocument/2006/relationships/slideLayout" Target="/ppt/slideLayouts/slideLayout5.xml" Id="Rfe60c06e2ca24f06" /><Relationship Type="http://schemas.openxmlformats.org/officeDocument/2006/relationships/slideLayout" Target="/ppt/slideLayouts/slideLayout6.xml" Id="R8cee0076e0b341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a3626efaf94fab"/>
    <p:sldLayoutId xmlns:r="http://schemas.openxmlformats.org/officeDocument/2006/relationships" id="2147483650" r:id="R207c5aeef8eb4d28"/>
    <p:sldLayoutId xmlns:r="http://schemas.openxmlformats.org/officeDocument/2006/relationships" id="2147483651" r:id="R52b814b5a2c740c3"/>
    <p:sldLayoutId xmlns:r="http://schemas.openxmlformats.org/officeDocument/2006/relationships" id="2147483652" r:id="R55a9f8746ed74cac"/>
    <p:sldLayoutId xmlns:r="http://schemas.openxmlformats.org/officeDocument/2006/relationships" id="2147483653" r:id="Rfe60c06e2ca24f06"/>
    <p:sldLayoutId xmlns:r="http://schemas.openxmlformats.org/officeDocument/2006/relationships" id="2147483654" r:id="R8cee0076e0b341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bc3549243848d1" /><Relationship Type="http://schemas.openxmlformats.org/officeDocument/2006/relationships/notesSlide" Target="/ppt/notesSlides/notesSlide1.xml" Id="R0ff940727ee24c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4453af17624791" /><Relationship Type="http://schemas.openxmlformats.org/officeDocument/2006/relationships/image" Target="/ppt/media/image.jpeg" Id="Rc43f62e6e3c44d65" /><Relationship Type="http://schemas.openxmlformats.org/officeDocument/2006/relationships/notesSlide" Target="/ppt/notesSlides/notesSlide2.xml" Id="R08c13d2f583c4c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c7dc1381114c25" /><Relationship Type="http://schemas.openxmlformats.org/officeDocument/2006/relationships/notesSlide" Target="/ppt/notesSlides/notesSlide3.xml" Id="Re28ec96c21be46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87aa21005442e1" /><Relationship Type="http://schemas.openxmlformats.org/officeDocument/2006/relationships/image" Target="/ppt/media/image2.jpeg" Id="R17c47a54b313439e" /><Relationship Type="http://schemas.openxmlformats.org/officeDocument/2006/relationships/notesSlide" Target="/ppt/notesSlides/notesSlide4.xml" Id="R25f2fd5ce23348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843a1ace414dee" /><Relationship Type="http://schemas.openxmlformats.org/officeDocument/2006/relationships/notesSlide" Target="/ppt/notesSlides/notesSlide5.xml" Id="Rd3a45fec8fe344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97b418e05f4e45" /><Relationship Type="http://schemas.openxmlformats.org/officeDocument/2006/relationships/notesSlide" Target="/ppt/notesSlides/notesSlide6.xml" Id="R190fc7e7ae0e44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437dd032454b47" /><Relationship Type="http://schemas.openxmlformats.org/officeDocument/2006/relationships/notesSlide" Target="/ppt/notesSlides/notesSlide7.xml" Id="R064136dbf22b43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91d174428f648b5" /><Relationship Type="http://schemas.openxmlformats.org/officeDocument/2006/relationships/notesSlide" Target="/ppt/notesSlides/notesSlide8.xml" Id="R60e1fa8b74a244f4" /></Relationships>
</file>

<file path=ppt/slides/slide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F591C8-1874-45B1-9123-04A09B9983C3}"/>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JobTrack</a:t>
            </a:r>
          </a:p>
        </p:txBody>
      </p:sp>
      <p:sp>
        <p:nvSpPr>
          <p:cNvPr id="2" name="">
            <a:extLst xmlns:a="http://schemas.openxmlformats.org/drawingml/2006/main">
              <a:ext uri="{FF2B5EF4-FFF2-40B4-BE49-F238E27FC236}">
                <a16:creationId xmlns:a16="http://schemas.microsoft.com/office/drawing/2014/main" id="{94C7DF45-C75E-47A8-A194-02710244BA98}"/>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7A15B62-829C-497F-A8AE-89D0E0756ED0}"/>
              </a:ext>
            </a:extLst>
          </p:cNvPr>
          <p:cNvSpPr>
            <a:spLocks xmlns:a="http://schemas.openxmlformats.org/drawingml/2006/main" noGrp="1"/>
          </p:cNvSpPr>
          <p:nvPr/>
        </p:nvSpPr>
        <p:spPr>
          <a:xfrm xmlns:a="http://schemas.openxmlformats.org/drawingml/2006/main">
            <a:off x="609600" y="1714500"/>
            <a:ext cx="9810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53E34"/>
                </a:solidFill>
                <a:latin typeface="Arial"/>
                <a:ea typeface="Arial"/>
                <a:cs typeface="Arial"/>
              </a:defRPr>
            </a:defPPr>
          </a:lstStyle>
          <a:p xmlns:a="http://schemas.openxmlformats.org/drawingml/2006/main">
            <a:pPr>
              <a:defRPr sz="4650" b="1">
                <a:solidFill>
                  <a:srgbClr val="153E34"/>
                </a:solidFill>
                <a:latin typeface="Arial"/>
                <a:ea typeface="Arial"/>
                <a:cs typeface="Arial"/>
              </a:defRPr>
            </a:pPr>
            <a:r>
              <a:rPr sz="4650" b="1">
                <a:solidFill>
                  <a:srgbClr val="153E34"/>
                </a:solidFill>
                <a:latin typeface="Arial"/>
                <a:ea typeface="Arial"/>
                <a:cs typeface="Arial"/>
              </a:rPr>
              <a:t>A clearer view of</a:t>
            </a:r>
          </a:p>
          <a:p xmlns:a="http://schemas.openxmlformats.org/drawingml/2006/main">
            <a:pPr>
              <a:defRPr sz="4650" b="1">
                <a:solidFill>
                  <a:srgbClr val="153E34"/>
                </a:solidFill>
                <a:latin typeface="Arial"/>
                <a:ea typeface="Arial"/>
                <a:cs typeface="Arial"/>
              </a:defRPr>
            </a:pPr>
            <a:r>
              <a:rPr sz="4650" b="1">
                <a:solidFill>
                  <a:srgbClr val="153E34"/>
                </a:solidFill>
                <a:latin typeface="Arial"/>
                <a:ea typeface="Arial"/>
                <a:cs typeface="Arial"/>
              </a:rPr>
              <a:t>your next opportunity</a:t>
            </a:r>
          </a:p>
        </p:txBody>
      </p:sp>
      <p:sp>
        <p:nvSpPr>
          <p:cNvPr id="4" name="">
            <a:extLst xmlns:a="http://schemas.openxmlformats.org/drawingml/2006/main">
              <a:ext uri="{FF2B5EF4-FFF2-40B4-BE49-F238E27FC236}">
                <a16:creationId xmlns:a16="http://schemas.microsoft.com/office/drawing/2014/main" id="{7B64F24E-8CB0-4775-9FDA-D5353B20FE57}"/>
              </a:ext>
            </a:extLst>
          </p:cNvPr>
          <p:cNvSpPr>
            <a:spLocks xmlns:a="http://schemas.openxmlformats.org/drawingml/2006/main" noGrp="1"/>
          </p:cNvSpPr>
          <p:nvPr/>
        </p:nvSpPr>
        <p:spPr>
          <a:xfrm xmlns:a="http://schemas.openxmlformats.org/drawingml/2006/main">
            <a:off x="647700" y="39243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3C35"/>
                </a:solidFill>
                <a:latin typeface="Arial"/>
                <a:ea typeface="Arial"/>
                <a:cs typeface="Arial"/>
              </a:defRPr>
            </a:defPPr>
          </a:lstStyle>
          <a:p xmlns:a="http://schemas.openxmlformats.org/drawingml/2006/main">
            <a:pPr>
              <a:defRPr sz="2250" b="0">
                <a:solidFill>
                  <a:srgbClr val="193C35"/>
                </a:solidFill>
                <a:latin typeface="Arial"/>
                <a:ea typeface="Arial"/>
                <a:cs typeface="Arial"/>
              </a:defRPr>
            </a:pPr>
            <a:r>
              <a:rPr sz="2250" b="0">
                <a:solidFill>
                  <a:srgbClr val="193C35"/>
                </a:solidFill>
                <a:latin typeface="Arial"/>
                <a:ea typeface="Arial"/>
                <a:cs typeface="Arial"/>
              </a:rPr>
              <a:t>Midpoint prototype</a:t>
            </a:r>
          </a:p>
        </p:txBody>
      </p:sp>
      <p:sp>
        <p:nvSpPr>
          <p:cNvPr id="5" name="">
            <a:extLst xmlns:a="http://schemas.openxmlformats.org/drawingml/2006/main">
              <a:ext uri="{FF2B5EF4-FFF2-40B4-BE49-F238E27FC236}">
                <a16:creationId xmlns:a16="http://schemas.microsoft.com/office/drawing/2014/main" id="{1842417B-AE00-48A2-A79D-B1B30BEC676D}"/>
              </a:ext>
            </a:extLst>
          </p:cNvPr>
          <p:cNvSpPr>
            <a:spLocks xmlns:a="http://schemas.openxmlformats.org/drawingml/2006/main" noGrp="1"/>
          </p:cNvSpPr>
          <p:nvPr/>
        </p:nvSpPr>
        <p:spPr>
          <a:xfrm xmlns:a="http://schemas.openxmlformats.org/drawingml/2006/main">
            <a:off x="647700" y="47815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96C"/>
                </a:solidFill>
                <a:latin typeface="Arial"/>
                <a:ea typeface="Arial"/>
                <a:cs typeface="Arial"/>
              </a:defRPr>
            </a:defPPr>
          </a:lstStyle>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Local application verified</a:t>
            </a:r>
          </a:p>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GitHub source uploaded in separate commits</a:t>
            </a:r>
          </a:p>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AWS deployment awaits account access</a:t>
            </a:r>
          </a:p>
        </p:txBody>
      </p:sp>
    </p:spTree>
    <p:extLst>
      <p:ext uri="{BB962C8B-B14F-4D97-AF65-F5344CB8AC3E}">
        <p14:creationId xmlns:p14="http://schemas.microsoft.com/office/powerpoint/2010/main" val="975829672"/>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6F9A25-BB43-44D8-ABC9-B441CDB068A9}"/>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Application dashboard</a:t>
            </a:r>
          </a:p>
        </p:txBody>
      </p:sp>
      <p:sp>
        <p:nvSpPr>
          <p:cNvPr id="2" name="">
            <a:extLst xmlns:a="http://schemas.openxmlformats.org/drawingml/2006/main">
              <a:ext uri="{FF2B5EF4-FFF2-40B4-BE49-F238E27FC236}">
                <a16:creationId xmlns:a16="http://schemas.microsoft.com/office/drawing/2014/main" id="{3664BE75-86DE-47F4-B08C-F1DE65D7EEC4}"/>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9A51DEA-8B60-4457-B6B1-9091D82F385B}"/>
              </a:ext>
            </a:extLst>
          </p:cNvPr>
          <p:cNvSpPr>
            <a:spLocks xmlns:a="http://schemas.openxmlformats.org/drawingml/2006/main" noGrp="1"/>
          </p:cNvSpPr>
          <p:nvPr/>
        </p:nvSpPr>
        <p:spPr>
          <a:xfrm xmlns:a="http://schemas.openxmlformats.org/drawingml/2006/main">
            <a:off x="609600" y="142875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3E34"/>
                </a:solidFill>
                <a:latin typeface="Arial"/>
                <a:ea typeface="Arial"/>
                <a:cs typeface="Arial"/>
              </a:defRPr>
            </a:defPPr>
          </a:lstStyle>
          <a:p xmlns:a="http://schemas.openxmlformats.org/drawingml/2006/main">
            <a:pPr>
              <a:defRPr sz="2250" b="1">
                <a:solidFill>
                  <a:srgbClr val="153E34"/>
                </a:solidFill>
                <a:latin typeface="Arial"/>
                <a:ea typeface="Arial"/>
                <a:cs typeface="Arial"/>
              </a:defRPr>
            </a:pPr>
            <a:r>
              <a:rPr sz="2250" b="1">
                <a:solidFill>
                  <a:srgbClr val="153E34"/>
                </a:solidFill>
                <a:latin typeface="Arial"/>
                <a:ea typeface="Arial"/>
                <a:cs typeface="Arial"/>
              </a:rPr>
              <a:t>One place to track</a:t>
            </a:r>
          </a:p>
          <a:p xmlns:a="http://schemas.openxmlformats.org/drawingml/2006/main">
            <a:pPr>
              <a:defRPr sz="2250" b="1">
                <a:solidFill>
                  <a:srgbClr val="153E34"/>
                </a:solidFill>
                <a:latin typeface="Arial"/>
                <a:ea typeface="Arial"/>
                <a:cs typeface="Arial"/>
              </a:defRPr>
            </a:pPr>
            <a:r>
              <a:rPr sz="2250" b="1">
                <a:solidFill>
                  <a:srgbClr val="153E34"/>
                </a:solidFill>
                <a:latin typeface="Arial"/>
                <a:ea typeface="Arial"/>
                <a:cs typeface="Arial"/>
              </a:rPr>
              <a:t>roles and progress</a:t>
            </a:r>
          </a:p>
        </p:txBody>
      </p:sp>
      <p:sp>
        <p:nvSpPr>
          <p:cNvPr id="4" name="">
            <a:extLst xmlns:a="http://schemas.openxmlformats.org/drawingml/2006/main">
              <a:ext uri="{FF2B5EF4-FFF2-40B4-BE49-F238E27FC236}">
                <a16:creationId xmlns:a16="http://schemas.microsoft.com/office/drawing/2014/main" id="{63313B8C-8F41-4F36-A24F-8B2C3C411898}"/>
              </a:ext>
            </a:extLst>
          </p:cNvPr>
          <p:cNvSpPr>
            <a:spLocks xmlns:a="http://schemas.openxmlformats.org/drawingml/2006/main" noGrp="1"/>
          </p:cNvSpPr>
          <p:nvPr/>
        </p:nvSpPr>
        <p:spPr>
          <a:xfrm xmlns:a="http://schemas.openxmlformats.org/drawingml/2006/main">
            <a:off x="609600" y="3048000"/>
            <a:ext cx="285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96C"/>
                </a:solidFill>
                <a:latin typeface="Arial"/>
                <a:ea typeface="Arial"/>
                <a:cs typeface="Arial"/>
              </a:defRPr>
            </a:defPPr>
          </a:lstStyle>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Editable applications</a:t>
            </a:r>
          </a:p>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Annual salary in USD</a:t>
            </a:r>
          </a:p>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Saved dates and notes</a:t>
            </a:r>
          </a:p>
          <a:p xmlns:a="http://schemas.openxmlformats.org/drawingml/2006/main">
            <a:pPr>
              <a:defRPr sz="1875" b="0">
                <a:solidFill>
                  <a:srgbClr val="64796C"/>
                </a:solidFill>
                <a:latin typeface="Arial"/>
                <a:ea typeface="Arial"/>
                <a:cs typeface="Arial"/>
              </a:defRPr>
            </a:pPr>
            <a:r>
              <a:rPr sz="1875" b="0">
                <a:solidFill>
                  <a:srgbClr val="64796C"/>
                </a:solidFill>
                <a:latin typeface="Arial"/>
                <a:ea typeface="Arial"/>
                <a:cs typeface="Arial"/>
              </a:rPr>
              <a:t>Visible status changes</a:t>
            </a:r>
          </a:p>
        </p:txBody>
      </p:sp>
      <p:pic>
        <p:nvPicPr>
          <p:cNvPr id="5" name="">
            <a:extLst xmlns:a="http://schemas.openxmlformats.org/drawingml/2006/main">
              <a:ext uri="{FF2B5EF4-FFF2-40B4-BE49-F238E27FC236}">
                <a16:creationId xmlns:a16="http://schemas.microsoft.com/office/drawing/2014/main" id="{B042F5FE-AE83-4EA2-BD3B-886AD1AC9229}"/>
              </a:ext>
            </a:extLst>
          </p:cNvPr>
          <p:cNvPicPr>
            <a:picLocks xmlns:a="http://schemas.openxmlformats.org/drawingml/2006/main" noChangeAspect="1"/>
          </p:cNvPicPr>
          <p:nvPr/>
        </p:nvPicPr>
        <p:blipFill>
          <a:blip xmlns:r="http://schemas.openxmlformats.org/officeDocument/2006/relationships" xmlns:a="http://schemas.openxmlformats.org/drawingml/2006/main" r:embed="Rc43f62e6e3c44d65"/>
          <a:stretch xmlns:a="http://schemas.openxmlformats.org/drawingml/2006/main"/>
        </p:blipFill>
        <p:spPr>
          <a:xfrm xmlns:a="http://schemas.openxmlformats.org/drawingml/2006/main">
            <a:off x="4283676" y="1257300"/>
            <a:ext cx="6672649" cy="5143500"/>
          </a:xfrm>
          <a:prstGeom xmlns:a="http://schemas.openxmlformats.org/drawingml/2006/main" prst="rect">
            <a:avLst/>
          </a:prstGeom>
        </p:spPr>
      </p:pic>
    </p:spTree>
    <p:extLst>
      <p:ext uri="{BB962C8B-B14F-4D97-AF65-F5344CB8AC3E}">
        <p14:creationId xmlns:p14="http://schemas.microsoft.com/office/powerpoint/2010/main" val="1456800331"/>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420639-6123-43BC-BBE3-F949F803B124}"/>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Application management</a:t>
            </a:r>
          </a:p>
        </p:txBody>
      </p:sp>
      <p:sp>
        <p:nvSpPr>
          <p:cNvPr id="2" name="">
            <a:extLst xmlns:a="http://schemas.openxmlformats.org/drawingml/2006/main">
              <a:ext uri="{FF2B5EF4-FFF2-40B4-BE49-F238E27FC236}">
                <a16:creationId xmlns:a16="http://schemas.microsoft.com/office/drawing/2014/main" id="{3ABB01E2-5D24-4C6B-B42B-440D2C1A9DD2}"/>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662D620-452F-41BF-B047-6756DC6F8BF4}"/>
              </a:ext>
            </a:extLst>
          </p:cNvPr>
          <p:cNvSpPr>
            <a:spLocks xmlns:a="http://schemas.openxmlformats.org/drawingml/2006/main" noGrp="1"/>
          </p:cNvSpPr>
          <p:nvPr/>
        </p:nvSpPr>
        <p:spPr>
          <a:xfrm xmlns:a="http://schemas.openxmlformats.org/drawingml/2006/main">
            <a:off x="609600" y="1428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53E34"/>
                </a:solidFill>
                <a:latin typeface="Arial"/>
                <a:ea typeface="Arial"/>
                <a:cs typeface="Arial"/>
              </a:defRPr>
            </a:defPPr>
          </a:lstStyle>
          <a:p xmlns:a="http://schemas.openxmlformats.org/drawingml/2006/main">
            <a:pPr>
              <a:defRPr sz="2400" b="1">
                <a:solidFill>
                  <a:srgbClr val="153E34"/>
                </a:solidFill>
                <a:latin typeface="Arial"/>
                <a:ea typeface="Arial"/>
                <a:cs typeface="Arial"/>
              </a:defRPr>
            </a:pPr>
            <a:r>
              <a:rPr sz="2400" b="1">
                <a:solidFill>
                  <a:srgbClr val="153E34"/>
                </a:solidFill>
                <a:latin typeface="Arial"/>
                <a:ea typeface="Arial"/>
                <a:cs typeface="Arial"/>
              </a:rPr>
              <a:t>Create and update</a:t>
            </a:r>
          </a:p>
        </p:txBody>
      </p:sp>
      <p:sp>
        <p:nvSpPr>
          <p:cNvPr id="4" name="">
            <a:extLst xmlns:a="http://schemas.openxmlformats.org/drawingml/2006/main">
              <a:ext uri="{FF2B5EF4-FFF2-40B4-BE49-F238E27FC236}">
                <a16:creationId xmlns:a16="http://schemas.microsoft.com/office/drawing/2014/main" id="{3B626F65-46C6-4AEB-8C7C-9F9284E4DD77}"/>
              </a:ext>
            </a:extLst>
          </p:cNvPr>
          <p:cNvSpPr>
            <a:spLocks xmlns:a="http://schemas.openxmlformats.org/drawingml/2006/main" noGrp="1"/>
          </p:cNvSpPr>
          <p:nvPr/>
        </p:nvSpPr>
        <p:spPr>
          <a:xfrm xmlns:a="http://schemas.openxmlformats.org/drawingml/2006/main">
            <a:off x="609600" y="2238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4796C"/>
                </a:solidFill>
                <a:latin typeface="Arial"/>
                <a:ea typeface="Arial"/>
                <a:cs typeface="Arial"/>
              </a:defRPr>
            </a:defPPr>
          </a:lstStyle>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Company, role, location and saved date</a:t>
            </a:r>
          </a:p>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Optional salary, posting URL and notes</a:t>
            </a:r>
          </a:p>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Status changes persist after refresh</a:t>
            </a:r>
          </a:p>
        </p:txBody>
      </p:sp>
      <p:sp>
        <p:nvSpPr>
          <p:cNvPr id="5" name="">
            <a:extLst xmlns:a="http://schemas.openxmlformats.org/drawingml/2006/main">
              <a:ext uri="{FF2B5EF4-FFF2-40B4-BE49-F238E27FC236}">
                <a16:creationId xmlns:a16="http://schemas.microsoft.com/office/drawing/2014/main" id="{D2EF4179-52F4-4D10-B957-8BEA72B7902B}"/>
              </a:ext>
            </a:extLst>
          </p:cNvPr>
          <p:cNvSpPr>
            <a:spLocks xmlns:a="http://schemas.openxmlformats.org/drawingml/2006/main" noGrp="1"/>
          </p:cNvSpPr>
          <p:nvPr/>
        </p:nvSpPr>
        <p:spPr>
          <a:xfrm xmlns:a="http://schemas.openxmlformats.org/drawingml/2006/main">
            <a:off x="609600" y="40290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53E34"/>
                </a:solidFill>
                <a:latin typeface="Arial"/>
                <a:ea typeface="Arial"/>
                <a:cs typeface="Arial"/>
              </a:defRPr>
            </a:defPPr>
          </a:lstStyle>
          <a:p xmlns:a="http://schemas.openxmlformats.org/drawingml/2006/main">
            <a:pPr>
              <a:defRPr sz="2400" b="1">
                <a:solidFill>
                  <a:srgbClr val="153E34"/>
                </a:solidFill>
                <a:latin typeface="Arial"/>
                <a:ea typeface="Arial"/>
                <a:cs typeface="Arial"/>
              </a:defRPr>
            </a:pPr>
            <a:r>
              <a:rPr sz="2400" b="1">
                <a:solidFill>
                  <a:srgbClr val="153E34"/>
                </a:solidFill>
                <a:latin typeface="Arial"/>
                <a:ea typeface="Arial"/>
                <a:cs typeface="Arial"/>
              </a:rPr>
              <a:t>Filter the pipeline</a:t>
            </a:r>
          </a:p>
        </p:txBody>
      </p:sp>
      <p:sp>
        <p:nvSpPr>
          <p:cNvPr id="6" name="">
            <a:extLst xmlns:a="http://schemas.openxmlformats.org/drawingml/2006/main">
              <a:ext uri="{FF2B5EF4-FFF2-40B4-BE49-F238E27FC236}">
                <a16:creationId xmlns:a16="http://schemas.microsoft.com/office/drawing/2014/main" id="{EE20EB7A-94D1-4656-8A91-3676C6BA07D2}"/>
              </a:ext>
            </a:extLst>
          </p:cNvPr>
          <p:cNvSpPr>
            <a:spLocks xmlns:a="http://schemas.openxmlformats.org/drawingml/2006/main" noGrp="1"/>
          </p:cNvSpPr>
          <p:nvPr/>
        </p:nvSpPr>
        <p:spPr>
          <a:xfrm xmlns:a="http://schemas.openxmlformats.org/drawingml/2006/main">
            <a:off x="609600" y="481012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4796C"/>
                </a:solidFill>
                <a:latin typeface="Arial"/>
                <a:ea typeface="Arial"/>
                <a:cs typeface="Arial"/>
              </a:defRPr>
            </a:defPPr>
          </a:lstStyle>
          <a:p xmlns:a="http://schemas.openxmlformats.org/drawingml/2006/main">
            <a:pPr>
              <a:defRPr sz="2100" b="0">
                <a:solidFill>
                  <a:srgbClr val="64796C"/>
                </a:solidFill>
                <a:latin typeface="Arial"/>
                <a:ea typeface="Arial"/>
                <a:cs typeface="Arial"/>
              </a:defRPr>
            </a:pPr>
            <a:r>
              <a:rPr sz="2100" b="0">
                <a:solidFill>
                  <a:srgbClr val="64796C"/>
                </a:solidFill>
                <a:latin typeface="Arial"/>
                <a:ea typeface="Arial"/>
                <a:cs typeface="Arial"/>
              </a:rPr>
              <a:t>Combine status, employment type and salary bounds</a:t>
            </a:r>
          </a:p>
          <a:p xmlns:a="http://schemas.openxmlformats.org/drawingml/2006/main">
            <a:pPr>
              <a:defRPr sz="2100" b="0">
                <a:solidFill>
                  <a:srgbClr val="64796C"/>
                </a:solidFill>
                <a:latin typeface="Arial"/>
                <a:ea typeface="Arial"/>
                <a:cs typeface="Arial"/>
              </a:defRPr>
            </a:pPr>
            <a:r>
              <a:rPr sz="2100" b="0">
                <a:solidFill>
                  <a:srgbClr val="64796C"/>
                </a:solidFill>
                <a:latin typeface="Arial"/>
                <a:ea typeface="Arial"/>
                <a:cs typeface="Arial"/>
              </a:rPr>
              <a:t>Sort by salary, company, date or latest update</a:t>
            </a:r>
          </a:p>
          <a:p xmlns:a="http://schemas.openxmlformats.org/drawingml/2006/main">
            <a:pPr>
              <a:defRPr sz="2100" b="0">
                <a:solidFill>
                  <a:srgbClr val="64796C"/>
                </a:solidFill>
                <a:latin typeface="Arial"/>
                <a:ea typeface="Arial"/>
                <a:cs typeface="Arial"/>
              </a:defRPr>
            </a:pPr>
            <a:r>
              <a:rPr sz="2100" b="0">
                <a:solidFill>
                  <a:srgbClr val="64796C"/>
                </a:solidFill>
                <a:latin typeface="Arial"/>
                <a:ea typeface="Arial"/>
                <a:cs typeface="Arial"/>
              </a:rPr>
              <a:t>Confirm before deleting a record</a:t>
            </a:r>
          </a:p>
        </p:txBody>
      </p:sp>
    </p:spTree>
    <p:extLst>
      <p:ext uri="{BB962C8B-B14F-4D97-AF65-F5344CB8AC3E}">
        <p14:creationId xmlns:p14="http://schemas.microsoft.com/office/powerpoint/2010/main" val="1950631728"/>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2F7309-7471-4E0B-A5F8-1920D17472CB}"/>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Supported capture flow</a:t>
            </a:r>
          </a:p>
        </p:txBody>
      </p:sp>
      <p:sp>
        <p:nvSpPr>
          <p:cNvPr id="2" name="">
            <a:extLst xmlns:a="http://schemas.openxmlformats.org/drawingml/2006/main">
              <a:ext uri="{FF2B5EF4-FFF2-40B4-BE49-F238E27FC236}">
                <a16:creationId xmlns:a16="http://schemas.microsoft.com/office/drawing/2014/main" id="{C0FF63D2-35C3-486D-A64C-8DAFB3B97B2C}"/>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2E060AE-EBAA-493B-9396-078F499999C4}"/>
              </a:ext>
            </a:extLst>
          </p:cNvPr>
          <p:cNvSpPr>
            <a:spLocks xmlns:a="http://schemas.openxmlformats.org/drawingml/2006/main" noGrp="1"/>
          </p:cNvSpPr>
          <p:nvPr/>
        </p:nvSpPr>
        <p:spPr>
          <a:xfrm xmlns:a="http://schemas.openxmlformats.org/drawingml/2006/main">
            <a:off x="609600" y="14287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53E34"/>
                </a:solidFill>
                <a:latin typeface="Arial"/>
                <a:ea typeface="Arial"/>
                <a:cs typeface="Arial"/>
              </a:defRPr>
            </a:defPPr>
          </a:lstStyle>
          <a:p xmlns:a="http://schemas.openxmlformats.org/drawingml/2006/main">
            <a:pPr>
              <a:defRPr sz="2400" b="1">
                <a:solidFill>
                  <a:srgbClr val="153E34"/>
                </a:solidFill>
                <a:latin typeface="Arial"/>
                <a:ea typeface="Arial"/>
                <a:cs typeface="Arial"/>
              </a:defRPr>
            </a:pPr>
            <a:r>
              <a:rPr sz="2400" b="1">
                <a:solidFill>
                  <a:srgbClr val="153E34"/>
                </a:solidFill>
                <a:latin typeface="Arial"/>
                <a:ea typeface="Arial"/>
                <a:cs typeface="Arial"/>
              </a:rPr>
              <a:t>Structured job data</a:t>
            </a:r>
          </a:p>
        </p:txBody>
      </p:sp>
      <p:sp>
        <p:nvSpPr>
          <p:cNvPr id="4" name="">
            <a:extLst xmlns:a="http://schemas.openxmlformats.org/drawingml/2006/main">
              <a:ext uri="{FF2B5EF4-FFF2-40B4-BE49-F238E27FC236}">
                <a16:creationId xmlns:a16="http://schemas.microsoft.com/office/drawing/2014/main" id="{F87FA246-0B5A-41C7-A01B-3B4E10A498B9}"/>
              </a:ext>
            </a:extLst>
          </p:cNvPr>
          <p:cNvSpPr>
            <a:spLocks xmlns:a="http://schemas.openxmlformats.org/drawingml/2006/main" noGrp="1"/>
          </p:cNvSpPr>
          <p:nvPr/>
        </p:nvSpPr>
        <p:spPr>
          <a:xfrm xmlns:a="http://schemas.openxmlformats.org/drawingml/2006/main">
            <a:off x="609600" y="2238375"/>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4796C"/>
                </a:solidFill>
                <a:latin typeface="Arial"/>
                <a:ea typeface="Arial"/>
                <a:cs typeface="Arial"/>
              </a:defRPr>
            </a:defPPr>
          </a:lstStyle>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Schema.org JobPosting</a:t>
            </a:r>
          </a:p>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Bundled demo fixture</a:t>
            </a:r>
          </a:p>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Review before saving</a:t>
            </a:r>
          </a:p>
        </p:txBody>
      </p:sp>
      <p:sp>
        <p:nvSpPr>
          <p:cNvPr id="5" name="">
            <a:extLst xmlns:a="http://schemas.openxmlformats.org/drawingml/2006/main">
              <a:ext uri="{FF2B5EF4-FFF2-40B4-BE49-F238E27FC236}">
                <a16:creationId xmlns:a16="http://schemas.microsoft.com/office/drawing/2014/main" id="{6586D44A-9679-463E-B2D7-62C2E7564065}"/>
              </a:ext>
            </a:extLst>
          </p:cNvPr>
          <p:cNvSpPr>
            <a:spLocks xmlns:a="http://schemas.openxmlformats.org/drawingml/2006/main" noGrp="1"/>
          </p:cNvSpPr>
          <p:nvPr/>
        </p:nvSpPr>
        <p:spPr>
          <a:xfrm xmlns:a="http://schemas.openxmlformats.org/drawingml/2006/main">
            <a:off x="609600" y="423862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E34"/>
                </a:solidFill>
                <a:latin typeface="Arial"/>
                <a:ea typeface="Arial"/>
                <a:cs typeface="Arial"/>
              </a:defRPr>
            </a:defPPr>
          </a:lstStyle>
          <a:p xmlns:a="http://schemas.openxmlformats.org/drawingml/2006/main">
            <a:pPr>
              <a:defRPr sz="2100" b="1">
                <a:solidFill>
                  <a:srgbClr val="153E34"/>
                </a:solidFill>
                <a:latin typeface="Arial"/>
                <a:ea typeface="Arial"/>
                <a:cs typeface="Arial"/>
              </a:defRPr>
            </a:pPr>
            <a:r>
              <a:rPr sz="2100" b="1">
                <a:solidFill>
                  <a:srgbClr val="153E34"/>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C0A07FF8-D3F3-4D8B-A755-B737395B9AA6}"/>
              </a:ext>
            </a:extLst>
          </p:cNvPr>
          <p:cNvSpPr>
            <a:spLocks xmlns:a="http://schemas.openxmlformats.org/drawingml/2006/main" noGrp="1"/>
          </p:cNvSpPr>
          <p:nvPr/>
        </p:nvSpPr>
        <p:spPr>
          <a:xfrm xmlns:a="http://schemas.openxmlformats.org/drawingml/2006/main">
            <a:off x="609600" y="490537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4796C"/>
                </a:solidFill>
                <a:latin typeface="Arial"/>
                <a:ea typeface="Arial"/>
                <a:cs typeface="Arial"/>
              </a:defRPr>
            </a:defPPr>
          </a:lstStyle>
          <a:p xmlns:a="http://schemas.openxmlformats.org/drawingml/2006/main">
            <a:pPr>
              <a:defRPr sz="1800" b="0">
                <a:solidFill>
                  <a:srgbClr val="64796C"/>
                </a:solidFill>
                <a:latin typeface="Arial"/>
                <a:ea typeface="Arial"/>
                <a:cs typeface="Arial"/>
              </a:defRPr>
            </a:pPr>
            <a:r>
              <a:rPr sz="1800" b="0">
                <a:solidFill>
                  <a:srgbClr val="64796C"/>
                </a:solidFill>
                <a:latin typeface="Arial"/>
                <a:ea typeface="Arial"/>
                <a:cs typeface="Arial"/>
              </a:rPr>
              <a:t>No arbitrary job-board guarantee</a:t>
            </a:r>
          </a:p>
          <a:p xmlns:a="http://schemas.openxmlformats.org/drawingml/2006/main">
            <a:pPr>
              <a:defRPr sz="1800" b="0">
                <a:solidFill>
                  <a:srgbClr val="64796C"/>
                </a:solidFill>
                <a:latin typeface="Arial"/>
                <a:ea typeface="Arial"/>
                <a:cs typeface="Arial"/>
              </a:defRPr>
            </a:pPr>
            <a:r>
              <a:rPr sz="1800" b="0">
                <a:solidFill>
                  <a:srgbClr val="64796C"/>
                </a:solidFill>
                <a:latin typeface="Arial"/>
                <a:ea typeface="Arial"/>
                <a:cs typeface="Arial"/>
              </a:rPr>
              <a:t>Annual USD values only</a:t>
            </a:r>
          </a:p>
          <a:p xmlns:a="http://schemas.openxmlformats.org/drawingml/2006/main">
            <a:pPr>
              <a:defRPr sz="1800" b="0">
                <a:solidFill>
                  <a:srgbClr val="64796C"/>
                </a:solidFill>
                <a:latin typeface="Arial"/>
                <a:ea typeface="Arial"/>
                <a:cs typeface="Arial"/>
              </a:defRPr>
            </a:pPr>
            <a:r>
              <a:rPr sz="1800" b="0">
                <a:solidFill>
                  <a:srgbClr val="64796C"/>
                </a:solidFill>
                <a:latin typeface="Arial"/>
                <a:ea typeface="Arial"/>
                <a:cs typeface="Arial"/>
              </a:rPr>
              <a:t>Manual Chrome toolbar check remains</a:t>
            </a:r>
          </a:p>
        </p:txBody>
      </p:sp>
      <p:pic>
        <p:nvPicPr>
          <p:cNvPr id="7" name="">
            <a:extLst xmlns:a="http://schemas.openxmlformats.org/drawingml/2006/main">
              <a:ext uri="{FF2B5EF4-FFF2-40B4-BE49-F238E27FC236}">
                <a16:creationId xmlns:a16="http://schemas.microsoft.com/office/drawing/2014/main" id="{74D79FED-78A8-4F53-9F83-9BC43FCF38B0}"/>
              </a:ext>
            </a:extLst>
          </p:cNvPr>
          <p:cNvPicPr>
            <a:picLocks xmlns:a="http://schemas.openxmlformats.org/drawingml/2006/main" noChangeAspect="1"/>
          </p:cNvPicPr>
          <p:nvPr/>
        </p:nvPicPr>
        <p:blipFill>
          <a:blip xmlns:r="http://schemas.openxmlformats.org/officeDocument/2006/relationships" xmlns:a="http://schemas.openxmlformats.org/drawingml/2006/main" r:embed="R17c47a54b313439e"/>
          <a:stretch xmlns:a="http://schemas.openxmlformats.org/drawingml/2006/main"/>
        </p:blipFill>
        <p:spPr>
          <a:xfrm xmlns:a="http://schemas.openxmlformats.org/drawingml/2006/main">
            <a:off x="7162978" y="1257300"/>
            <a:ext cx="3390543" cy="5000625"/>
          </a:xfrm>
          <a:prstGeom xmlns:a="http://schemas.openxmlformats.org/drawingml/2006/main" prst="rect">
            <a:avLst/>
          </a:prstGeom>
        </p:spPr>
      </p:pic>
    </p:spTree>
    <p:extLst>
      <p:ext uri="{BB962C8B-B14F-4D97-AF65-F5344CB8AC3E}">
        <p14:creationId xmlns:p14="http://schemas.microsoft.com/office/powerpoint/2010/main" val="1595856378"/>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D4DD93-7990-4510-9FF7-579B82650FFA}"/>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Implemented architecture</a:t>
            </a:r>
          </a:p>
        </p:txBody>
      </p:sp>
      <p:sp>
        <p:nvSpPr>
          <p:cNvPr id="2" name="">
            <a:extLst xmlns:a="http://schemas.openxmlformats.org/drawingml/2006/main">
              <a:ext uri="{FF2B5EF4-FFF2-40B4-BE49-F238E27FC236}">
                <a16:creationId xmlns:a16="http://schemas.microsoft.com/office/drawing/2014/main" id="{6D476213-6A88-4B04-B0D4-57F9D430E5C1}"/>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ED2CA67-EEBA-4F99-A44E-18DE0C684739}"/>
              </a:ext>
            </a:extLst>
          </p:cNvPr>
          <p:cNvSpPr>
            <a:spLocks xmlns:a="http://schemas.openxmlformats.org/drawingml/2006/main" noGrp="1"/>
          </p:cNvSpPr>
          <p:nvPr/>
        </p:nvSpPr>
        <p:spPr>
          <a:xfrm xmlns:a="http://schemas.openxmlformats.org/drawingml/2006/main">
            <a:off x="609600" y="1476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E34"/>
                </a:solidFill>
                <a:latin typeface="Arial"/>
                <a:ea typeface="Arial"/>
                <a:cs typeface="Arial"/>
              </a:defRPr>
            </a:defPPr>
          </a:lstStyle>
          <a:p xmlns:a="http://schemas.openxmlformats.org/drawingml/2006/main">
            <a:pPr>
              <a:defRPr sz="2325" b="1">
                <a:solidFill>
                  <a:srgbClr val="153E34"/>
                </a:solidFill>
                <a:latin typeface="Arial"/>
                <a:ea typeface="Arial"/>
                <a:cs typeface="Arial"/>
              </a:defRPr>
            </a:pPr>
            <a:r>
              <a:rPr sz="2325" b="1">
                <a:solidFill>
                  <a:srgbClr val="153E34"/>
                </a:solidFill>
                <a:latin typeface="Arial"/>
                <a:ea typeface="Arial"/>
                <a:cs typeface="Arial"/>
              </a:rPr>
              <a:t>Chrome extension</a:t>
            </a:r>
          </a:p>
        </p:txBody>
      </p:sp>
      <p:sp>
        <p:nvSpPr>
          <p:cNvPr id="4" name="">
            <a:extLst xmlns:a="http://schemas.openxmlformats.org/drawingml/2006/main">
              <a:ext uri="{FF2B5EF4-FFF2-40B4-BE49-F238E27FC236}">
                <a16:creationId xmlns:a16="http://schemas.microsoft.com/office/drawing/2014/main" id="{0D888AB5-D8C0-4C30-B20B-9659DD7663BD}"/>
              </a:ext>
            </a:extLst>
          </p:cNvPr>
          <p:cNvSpPr>
            <a:spLocks xmlns:a="http://schemas.openxmlformats.org/drawingml/2006/main" noGrp="1"/>
          </p:cNvSpPr>
          <p:nvPr/>
        </p:nvSpPr>
        <p:spPr>
          <a:xfrm xmlns:a="http://schemas.openxmlformats.org/drawingml/2006/main">
            <a:off x="609600" y="2047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4796C"/>
                </a:solidFill>
                <a:latin typeface="Arial"/>
                <a:ea typeface="Arial"/>
                <a:cs typeface="Arial"/>
              </a:defRPr>
            </a:defPPr>
          </a:lstStyle>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Reads structured data and opens a reviewed draft</a:t>
            </a:r>
          </a:p>
        </p:txBody>
      </p:sp>
      <p:sp>
        <p:nvSpPr>
          <p:cNvPr id="5" name="">
            <a:extLst xmlns:a="http://schemas.openxmlformats.org/drawingml/2006/main">
              <a:ext uri="{FF2B5EF4-FFF2-40B4-BE49-F238E27FC236}">
                <a16:creationId xmlns:a16="http://schemas.microsoft.com/office/drawing/2014/main" id="{7FFDE5FE-029E-4CD5-B7C4-59D655E0ACDA}"/>
              </a:ext>
            </a:extLst>
          </p:cNvPr>
          <p:cNvSpPr>
            <a:spLocks xmlns:a="http://schemas.openxmlformats.org/drawingml/2006/main" noGrp="1"/>
          </p:cNvSpPr>
          <p:nvPr/>
        </p:nvSpPr>
        <p:spPr>
          <a:xfrm xmlns:a="http://schemas.openxmlformats.org/drawingml/2006/main">
            <a:off x="609600" y="2952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E34"/>
                </a:solidFill>
                <a:latin typeface="Arial"/>
                <a:ea typeface="Arial"/>
                <a:cs typeface="Arial"/>
              </a:defRPr>
            </a:defPPr>
          </a:lstStyle>
          <a:p xmlns:a="http://schemas.openxmlformats.org/drawingml/2006/main">
            <a:pPr>
              <a:defRPr sz="2325" b="1">
                <a:solidFill>
                  <a:srgbClr val="153E34"/>
                </a:solidFill>
                <a:latin typeface="Arial"/>
                <a:ea typeface="Arial"/>
                <a:cs typeface="Arial"/>
              </a:defRPr>
            </a:pPr>
            <a:r>
              <a:rPr sz="2325" b="1">
                <a:solidFill>
                  <a:srgbClr val="153E34"/>
                </a:solidFill>
                <a:latin typeface="Arial"/>
                <a:ea typeface="Arial"/>
                <a:cs typeface="Arial"/>
              </a:rPr>
              <a:t>Browser dashboard and Python API</a:t>
            </a:r>
          </a:p>
        </p:txBody>
      </p:sp>
      <p:sp>
        <p:nvSpPr>
          <p:cNvPr id="6" name="">
            <a:extLst xmlns:a="http://schemas.openxmlformats.org/drawingml/2006/main">
              <a:ext uri="{FF2B5EF4-FFF2-40B4-BE49-F238E27FC236}">
                <a16:creationId xmlns:a16="http://schemas.microsoft.com/office/drawing/2014/main" id="{4A7E4D0C-F43C-4AB9-A6F9-D6E605001C32}"/>
              </a:ext>
            </a:extLst>
          </p:cNvPr>
          <p:cNvSpPr>
            <a:spLocks xmlns:a="http://schemas.openxmlformats.org/drawingml/2006/main" noGrp="1"/>
          </p:cNvSpPr>
          <p:nvPr/>
        </p:nvSpPr>
        <p:spPr>
          <a:xfrm xmlns:a="http://schemas.openxmlformats.org/drawingml/2006/main">
            <a:off x="609600" y="3524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4796C"/>
                </a:solidFill>
                <a:latin typeface="Arial"/>
                <a:ea typeface="Arial"/>
                <a:cs typeface="Arial"/>
              </a:defRPr>
            </a:defPPr>
          </a:lstStyle>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Same-origin JSON requests handle application CRUD and queries</a:t>
            </a:r>
          </a:p>
        </p:txBody>
      </p:sp>
      <p:sp>
        <p:nvSpPr>
          <p:cNvPr id="7" name="">
            <a:extLst xmlns:a="http://schemas.openxmlformats.org/drawingml/2006/main">
              <a:ext uri="{FF2B5EF4-FFF2-40B4-BE49-F238E27FC236}">
                <a16:creationId xmlns:a16="http://schemas.microsoft.com/office/drawing/2014/main" id="{CD7E27EE-F5F6-407F-A3B9-C9686C284093}"/>
              </a:ext>
            </a:extLst>
          </p:cNvPr>
          <p:cNvSpPr>
            <a:spLocks xmlns:a="http://schemas.openxmlformats.org/drawingml/2006/main" noGrp="1"/>
          </p:cNvSpPr>
          <p:nvPr/>
        </p:nvSpPr>
        <p:spPr>
          <a:xfrm xmlns:a="http://schemas.openxmlformats.org/drawingml/2006/main">
            <a:off x="609600" y="4524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E34"/>
                </a:solidFill>
                <a:latin typeface="Arial"/>
                <a:ea typeface="Arial"/>
                <a:cs typeface="Arial"/>
              </a:defRPr>
            </a:defPPr>
          </a:lstStyle>
          <a:p xmlns:a="http://schemas.openxmlformats.org/drawingml/2006/main">
            <a:pPr>
              <a:defRPr sz="2325" b="1">
                <a:solidFill>
                  <a:srgbClr val="153E34"/>
                </a:solidFill>
                <a:latin typeface="Arial"/>
                <a:ea typeface="Arial"/>
                <a:cs typeface="Arial"/>
              </a:defRPr>
            </a:pPr>
            <a:r>
              <a:rPr sz="2325" b="1">
                <a:solidFill>
                  <a:srgbClr val="153E34"/>
                </a:solidFill>
                <a:latin typeface="Arial"/>
                <a:ea typeface="Arial"/>
                <a:cs typeface="Arial"/>
              </a:rPr>
              <a:t>SQLite database</a:t>
            </a:r>
          </a:p>
        </p:txBody>
      </p:sp>
      <p:sp>
        <p:nvSpPr>
          <p:cNvPr id="8" name="">
            <a:extLst xmlns:a="http://schemas.openxmlformats.org/drawingml/2006/main">
              <a:ext uri="{FF2B5EF4-FFF2-40B4-BE49-F238E27FC236}">
                <a16:creationId xmlns:a16="http://schemas.microsoft.com/office/drawing/2014/main" id="{5237A611-9060-4C95-BC06-5327C5C8D807}"/>
              </a:ext>
            </a:extLst>
          </p:cNvPr>
          <p:cNvSpPr>
            <a:spLocks xmlns:a="http://schemas.openxmlformats.org/drawingml/2006/main" noGrp="1"/>
          </p:cNvSpPr>
          <p:nvPr/>
        </p:nvSpPr>
        <p:spPr>
          <a:xfrm xmlns:a="http://schemas.openxmlformats.org/drawingml/2006/main">
            <a:off x="609600" y="5095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4796C"/>
                </a:solidFill>
                <a:latin typeface="Arial"/>
                <a:ea typeface="Arial"/>
                <a:cs typeface="Arial"/>
              </a:defRPr>
            </a:defPPr>
          </a:lstStyle>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One applications table persists records on local disk</a:t>
            </a:r>
          </a:p>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Single-user prototype without account isolation</a:t>
            </a:r>
          </a:p>
        </p:txBody>
      </p:sp>
    </p:spTree>
    <p:extLst>
      <p:ext uri="{BB962C8B-B14F-4D97-AF65-F5344CB8AC3E}">
        <p14:creationId xmlns:p14="http://schemas.microsoft.com/office/powerpoint/2010/main" val="1731815831"/>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586572-359C-4A54-BB7A-E6AD8BA91C67}"/>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Verification and current limits</a:t>
            </a:r>
          </a:p>
        </p:txBody>
      </p:sp>
      <p:sp>
        <p:nvSpPr>
          <p:cNvPr id="2" name="">
            <a:extLst xmlns:a="http://schemas.openxmlformats.org/drawingml/2006/main">
              <a:ext uri="{FF2B5EF4-FFF2-40B4-BE49-F238E27FC236}">
                <a16:creationId xmlns:a16="http://schemas.microsoft.com/office/drawing/2014/main" id="{33BF9DA8-3E1A-4D30-84D6-B28AA7B9DC64}"/>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9D1F41D-A6B5-4881-924B-BB1CA5EB2223}"/>
              </a:ext>
            </a:extLst>
          </p:cNvPr>
          <p:cNvSpPr>
            <a:spLocks xmlns:a="http://schemas.openxmlformats.org/drawingml/2006/main" noGrp="1"/>
          </p:cNvSpPr>
          <p:nvPr/>
        </p:nvSpPr>
        <p:spPr>
          <a:xfrm xmlns:a="http://schemas.openxmlformats.org/drawingml/2006/main">
            <a:off x="609600" y="14763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53E34"/>
                </a:solidFill>
                <a:latin typeface="Arial"/>
                <a:ea typeface="Arial"/>
                <a:cs typeface="Arial"/>
              </a:defRPr>
            </a:defPPr>
          </a:lstStyle>
          <a:p xmlns:a="http://schemas.openxmlformats.org/drawingml/2006/main">
            <a:pPr>
              <a:defRPr sz="3900" b="1">
                <a:solidFill>
                  <a:srgbClr val="153E34"/>
                </a:solidFill>
                <a:latin typeface="Arial"/>
                <a:ea typeface="Arial"/>
                <a:cs typeface="Arial"/>
              </a:defRPr>
            </a:pPr>
            <a:r>
              <a:rPr sz="3900" b="1">
                <a:solidFill>
                  <a:srgbClr val="153E34"/>
                </a:solidFill>
                <a:latin typeface="Arial"/>
                <a:ea typeface="Arial"/>
                <a:cs typeface="Arial"/>
              </a:rPr>
              <a:t>16 automated tests pass</a:t>
            </a:r>
          </a:p>
        </p:txBody>
      </p:sp>
      <p:sp>
        <p:nvSpPr>
          <p:cNvPr id="4" name="">
            <a:extLst xmlns:a="http://schemas.openxmlformats.org/drawingml/2006/main">
              <a:ext uri="{FF2B5EF4-FFF2-40B4-BE49-F238E27FC236}">
                <a16:creationId xmlns:a16="http://schemas.microsoft.com/office/drawing/2014/main" id="{8330E852-16AA-48F3-9578-EFCB771900DD}"/>
              </a:ext>
            </a:extLst>
          </p:cNvPr>
          <p:cNvSpPr>
            <a:spLocks xmlns:a="http://schemas.openxmlformats.org/drawingml/2006/main" noGrp="1"/>
          </p:cNvSpPr>
          <p:nvPr/>
        </p:nvSpPr>
        <p:spPr>
          <a:xfrm xmlns:a="http://schemas.openxmlformats.org/drawingml/2006/main">
            <a:off x="609600" y="25241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4796C"/>
                </a:solidFill>
                <a:latin typeface="Arial"/>
                <a:ea typeface="Arial"/>
                <a:cs typeface="Arial"/>
              </a:defRPr>
            </a:defPPr>
          </a:lstStyle>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API CRUD, validation, filters and restart persistence</a:t>
            </a:r>
          </a:p>
          <a:p xmlns:a="http://schemas.openxmlformats.org/drawingml/2006/main">
            <a:pPr>
              <a:defRPr sz="2175" b="0">
                <a:solidFill>
                  <a:srgbClr val="64796C"/>
                </a:solidFill>
                <a:latin typeface="Arial"/>
                <a:ea typeface="Arial"/>
                <a:cs typeface="Arial"/>
              </a:defRPr>
            </a:pPr>
            <a:r>
              <a:rPr sz="2175" b="0">
                <a:solidFill>
                  <a:srgbClr val="64796C"/>
                </a:solidFill>
                <a:latin typeface="Arial"/>
                <a:ea typeface="Arial"/>
                <a:cs typeface="Arial"/>
              </a:rPr>
              <a:t>Structured-data extraction and unsupported-page errors</a:t>
            </a:r>
          </a:p>
        </p:txBody>
      </p:sp>
      <p:sp>
        <p:nvSpPr>
          <p:cNvPr id="5" name="">
            <a:extLst xmlns:a="http://schemas.openxmlformats.org/drawingml/2006/main">
              <a:ext uri="{FF2B5EF4-FFF2-40B4-BE49-F238E27FC236}">
                <a16:creationId xmlns:a16="http://schemas.microsoft.com/office/drawing/2014/main" id="{9076A391-EBC0-4700-853E-D1BAB9D3C9FA}"/>
              </a:ext>
            </a:extLst>
          </p:cNvPr>
          <p:cNvSpPr>
            <a:spLocks xmlns:a="http://schemas.openxmlformats.org/drawingml/2006/main" noGrp="1"/>
          </p:cNvSpPr>
          <p:nvPr/>
        </p:nvSpPr>
        <p:spPr>
          <a:xfrm xmlns:a="http://schemas.openxmlformats.org/drawingml/2006/main">
            <a:off x="609600" y="4095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53E34"/>
                </a:solidFill>
                <a:latin typeface="Arial"/>
                <a:ea typeface="Arial"/>
                <a:cs typeface="Arial"/>
              </a:defRPr>
            </a:defPPr>
          </a:lstStyle>
          <a:p xmlns:a="http://schemas.openxmlformats.org/drawingml/2006/main">
            <a:pPr>
              <a:defRPr sz="2400" b="1">
                <a:solidFill>
                  <a:srgbClr val="153E34"/>
                </a:solidFill>
                <a:latin typeface="Arial"/>
                <a:ea typeface="Arial"/>
                <a:cs typeface="Arial"/>
              </a:defRPr>
            </a:pPr>
            <a:r>
              <a:rPr sz="2400" b="1">
                <a:solidFill>
                  <a:srgbClr val="153E34"/>
                </a:solidFill>
                <a:latin typeface="Arial"/>
                <a:ea typeface="Arial"/>
                <a:cs typeface="Arial"/>
              </a:rPr>
              <a:t>Browser workflows checked</a:t>
            </a:r>
          </a:p>
        </p:txBody>
      </p:sp>
      <p:sp>
        <p:nvSpPr>
          <p:cNvPr id="6" name="">
            <a:extLst xmlns:a="http://schemas.openxmlformats.org/drawingml/2006/main">
              <a:ext uri="{FF2B5EF4-FFF2-40B4-BE49-F238E27FC236}">
                <a16:creationId xmlns:a16="http://schemas.microsoft.com/office/drawing/2014/main" id="{A5E06AF8-0816-4BA9-8663-521E2E308274}"/>
              </a:ext>
            </a:extLst>
          </p:cNvPr>
          <p:cNvSpPr>
            <a:spLocks xmlns:a="http://schemas.openxmlformats.org/drawingml/2006/main" noGrp="1"/>
          </p:cNvSpPr>
          <p:nvPr/>
        </p:nvSpPr>
        <p:spPr>
          <a:xfrm xmlns:a="http://schemas.openxmlformats.org/drawingml/2006/main">
            <a:off x="609600" y="49053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4796C"/>
                </a:solidFill>
                <a:latin typeface="Arial"/>
                <a:ea typeface="Arial"/>
                <a:cs typeface="Arial"/>
              </a:defRPr>
            </a:defPPr>
          </a:lstStyle>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CRUD, filters, sorting, reset and draft review/save</a:t>
            </a:r>
          </a:p>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Chrome toolbar installation and Docker build remain unverified</a:t>
            </a:r>
          </a:p>
        </p:txBody>
      </p:sp>
    </p:spTree>
    <p:extLst>
      <p:ext uri="{BB962C8B-B14F-4D97-AF65-F5344CB8AC3E}">
        <p14:creationId xmlns:p14="http://schemas.microsoft.com/office/powerpoint/2010/main" val="864286742"/>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FCFEB2-C059-43DE-A235-095358AF9E8B}"/>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AWS preparation and remaining work</a:t>
            </a:r>
          </a:p>
        </p:txBody>
      </p:sp>
      <p:sp>
        <p:nvSpPr>
          <p:cNvPr id="2" name="">
            <a:extLst xmlns:a="http://schemas.openxmlformats.org/drawingml/2006/main">
              <a:ext uri="{FF2B5EF4-FFF2-40B4-BE49-F238E27FC236}">
                <a16:creationId xmlns:a16="http://schemas.microsoft.com/office/drawing/2014/main" id="{39BD21A7-C842-443D-897F-4664454001E5}"/>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D3941BF-6223-49D5-8FC7-FFF3033FF2A5}"/>
              </a:ext>
            </a:extLst>
          </p:cNvPr>
          <p:cNvSpPr>
            <a:spLocks xmlns:a="http://schemas.openxmlformats.org/drawingml/2006/main" noGrp="1"/>
          </p:cNvSpPr>
          <p:nvPr/>
        </p:nvSpPr>
        <p:spPr>
          <a:xfrm xmlns:a="http://schemas.openxmlformats.org/drawingml/2006/main">
            <a:off x="609600" y="1476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53E34"/>
                </a:solidFill>
                <a:latin typeface="Arial"/>
                <a:ea typeface="Arial"/>
                <a:cs typeface="Arial"/>
              </a:defRPr>
            </a:defPPr>
          </a:lstStyle>
          <a:p xmlns:a="http://schemas.openxmlformats.org/drawingml/2006/main">
            <a:pPr>
              <a:defRPr sz="2400" b="1">
                <a:solidFill>
                  <a:srgbClr val="153E34"/>
                </a:solidFill>
                <a:latin typeface="Arial"/>
                <a:ea typeface="Arial"/>
                <a:cs typeface="Arial"/>
              </a:defRPr>
            </a:pPr>
            <a:r>
              <a:rPr sz="2400" b="1">
                <a:solidFill>
                  <a:srgbClr val="153E34"/>
                </a:solidFill>
                <a:latin typeface="Arial"/>
                <a:ea typeface="Arial"/>
                <a:cs typeface="Arial"/>
              </a:rPr>
              <a:t>Prepared</a:t>
            </a:r>
          </a:p>
        </p:txBody>
      </p:sp>
      <p:sp>
        <p:nvSpPr>
          <p:cNvPr id="4" name="">
            <a:extLst xmlns:a="http://schemas.openxmlformats.org/drawingml/2006/main">
              <a:ext uri="{FF2B5EF4-FFF2-40B4-BE49-F238E27FC236}">
                <a16:creationId xmlns:a16="http://schemas.microsoft.com/office/drawing/2014/main" id="{91903C94-C4BE-428D-B37F-25854F018E96}"/>
              </a:ext>
            </a:extLst>
          </p:cNvPr>
          <p:cNvSpPr>
            <a:spLocks xmlns:a="http://schemas.openxmlformats.org/drawingml/2006/main" noGrp="1"/>
          </p:cNvSpPr>
          <p:nvPr/>
        </p:nvSpPr>
        <p:spPr>
          <a:xfrm xmlns:a="http://schemas.openxmlformats.org/drawingml/2006/main">
            <a:off x="609600" y="2333625"/>
            <a:ext cx="1047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4796C"/>
                </a:solidFill>
                <a:latin typeface="Arial"/>
                <a:ea typeface="Arial"/>
                <a:cs typeface="Arial"/>
              </a:defRPr>
            </a:defPPr>
          </a:lstStyle>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CloudFormation for private EC2 demo</a:t>
            </a:r>
          </a:p>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SQLite on encrypted EBS</a:t>
            </a:r>
          </a:p>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Session Manager access instructions</a:t>
            </a:r>
          </a:p>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Repository source and CI workflow</a:t>
            </a:r>
          </a:p>
        </p:txBody>
      </p:sp>
      <p:sp>
        <p:nvSpPr>
          <p:cNvPr id="5" name="">
            <a:extLst xmlns:a="http://schemas.openxmlformats.org/drawingml/2006/main">
              <a:ext uri="{FF2B5EF4-FFF2-40B4-BE49-F238E27FC236}">
                <a16:creationId xmlns:a16="http://schemas.microsoft.com/office/drawing/2014/main" id="{64B9B32F-0F41-40F2-81A0-BEA68D3D2E0B}"/>
              </a:ext>
            </a:extLst>
          </p:cNvPr>
          <p:cNvSpPr>
            <a:spLocks xmlns:a="http://schemas.openxmlformats.org/drawingml/2006/main" noGrp="1"/>
          </p:cNvSpPr>
          <p:nvPr/>
        </p:nvSpPr>
        <p:spPr>
          <a:xfrm xmlns:a="http://schemas.openxmlformats.org/drawingml/2006/main">
            <a:off x="609600" y="4762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53E34"/>
                </a:solidFill>
                <a:latin typeface="Arial"/>
                <a:ea typeface="Arial"/>
                <a:cs typeface="Arial"/>
              </a:defRPr>
            </a:defPPr>
          </a:lstStyle>
          <a:p xmlns:a="http://schemas.openxmlformats.org/drawingml/2006/main">
            <a:pPr>
              <a:defRPr sz="2400" b="1">
                <a:solidFill>
                  <a:srgbClr val="153E34"/>
                </a:solidFill>
                <a:latin typeface="Arial"/>
                <a:ea typeface="Arial"/>
                <a:cs typeface="Arial"/>
              </a:defRPr>
            </a:pPr>
            <a:r>
              <a:rPr sz="2400" b="1">
                <a:solidFill>
                  <a:srgbClr val="153E34"/>
                </a:solidFill>
                <a:latin typeface="Arial"/>
                <a:ea typeface="Arial"/>
                <a:cs typeface="Arial"/>
              </a:rPr>
              <a:t>AWS account access still needed</a:t>
            </a:r>
          </a:p>
        </p:txBody>
      </p:sp>
      <p:sp>
        <p:nvSpPr>
          <p:cNvPr id="6" name="">
            <a:extLst xmlns:a="http://schemas.openxmlformats.org/drawingml/2006/main">
              <a:ext uri="{FF2B5EF4-FFF2-40B4-BE49-F238E27FC236}">
                <a16:creationId xmlns:a16="http://schemas.microsoft.com/office/drawing/2014/main" id="{38AC2FA8-0541-42CF-8A4B-B00E639885ED}"/>
              </a:ext>
            </a:extLst>
          </p:cNvPr>
          <p:cNvSpPr>
            <a:spLocks xmlns:a="http://schemas.openxmlformats.org/drawingml/2006/main" noGrp="1"/>
          </p:cNvSpPr>
          <p:nvPr/>
        </p:nvSpPr>
        <p:spPr>
          <a:xfrm xmlns:a="http://schemas.openxmlformats.org/drawingml/2006/main">
            <a:off x="609600" y="547687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4796C"/>
                </a:solidFill>
                <a:latin typeface="Arial"/>
                <a:ea typeface="Arial"/>
                <a:cs typeface="Arial"/>
              </a:defRPr>
            </a:defPPr>
          </a:lstStyle>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AWS validation and deployment</a:t>
            </a:r>
          </a:p>
          <a:p xmlns:a="http://schemas.openxmlformats.org/drawingml/2006/main">
            <a:pPr>
              <a:defRPr sz="2025" b="0">
                <a:solidFill>
                  <a:srgbClr val="64796C"/>
                </a:solidFill>
                <a:latin typeface="Arial"/>
                <a:ea typeface="Arial"/>
                <a:cs typeface="Arial"/>
              </a:defRPr>
            </a:pPr>
            <a:r>
              <a:rPr sz="2025" b="0">
                <a:solidFill>
                  <a:srgbClr val="64796C"/>
                </a:solidFill>
                <a:latin typeface="Arial"/>
                <a:ea typeface="Arial"/>
                <a:cs typeface="Arial"/>
              </a:rPr>
              <a:t>Service health verification and backup check</a:t>
            </a:r>
          </a:p>
        </p:txBody>
      </p:sp>
    </p:spTree>
    <p:extLst>
      <p:ext uri="{BB962C8B-B14F-4D97-AF65-F5344CB8AC3E}">
        <p14:creationId xmlns:p14="http://schemas.microsoft.com/office/powerpoint/2010/main" val="935945670"/>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D98C60-8C5C-488F-B9C6-E40A1E56A4ED}"/>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34"/>
                </a:solidFill>
                <a:latin typeface="Arial"/>
                <a:ea typeface="Arial"/>
                <a:cs typeface="Arial"/>
              </a:defRPr>
            </a:defPPr>
          </a:lstStyle>
          <a:p xmlns:a="http://schemas.openxmlformats.org/drawingml/2006/main">
            <a:pPr>
              <a:defRPr sz="3150" b="1">
                <a:solidFill>
                  <a:srgbClr val="153E34"/>
                </a:solidFill>
                <a:latin typeface="Arial"/>
                <a:ea typeface="Arial"/>
                <a:cs typeface="Arial"/>
              </a:defRPr>
            </a:pPr>
            <a:r>
              <a:rPr sz="3150" b="1">
                <a:solidFill>
                  <a:srgbClr val="153E34"/>
                </a:solidFill>
                <a:latin typeface="Arial"/>
                <a:ea typeface="Arial"/>
                <a:cs typeface="Arial"/>
              </a:rPr>
              <a:t>Midpoint handoff</a:t>
            </a:r>
          </a:p>
        </p:txBody>
      </p:sp>
      <p:sp>
        <p:nvSpPr>
          <p:cNvPr id="2" name="">
            <a:extLst xmlns:a="http://schemas.openxmlformats.org/drawingml/2006/main">
              <a:ext uri="{FF2B5EF4-FFF2-40B4-BE49-F238E27FC236}">
                <a16:creationId xmlns:a16="http://schemas.microsoft.com/office/drawing/2014/main" id="{AA3B9E07-207D-49E8-9146-2B1428DFCDA1}"/>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4877B"/>
                </a:solidFill>
                <a:latin typeface="Arial"/>
                <a:ea typeface="Arial"/>
                <a:cs typeface="Arial"/>
              </a:defRPr>
            </a:defPPr>
          </a:lstStyle>
          <a:p xmlns:a="http://schemas.openxmlformats.org/drawingml/2006/main">
            <a:pPr>
              <a:defRPr sz="1200" b="0">
                <a:solidFill>
                  <a:srgbClr val="74877B"/>
                </a:solidFill>
                <a:latin typeface="Arial"/>
                <a:ea typeface="Arial"/>
                <a:cs typeface="Arial"/>
              </a:defRPr>
            </a:pPr>
            <a:r>
              <a:rPr sz="1200" b="0">
                <a:solidFill>
                  <a:srgbClr val="74877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3DC9FC7-482A-4FBC-BECB-8E066162788F}"/>
              </a:ext>
            </a:extLst>
          </p:cNvPr>
          <p:cNvSpPr>
            <a:spLocks xmlns:a="http://schemas.openxmlformats.org/drawingml/2006/main" noGrp="1"/>
          </p:cNvSpPr>
          <p:nvPr/>
        </p:nvSpPr>
        <p:spPr>
          <a:xfrm xmlns:a="http://schemas.openxmlformats.org/drawingml/2006/main">
            <a:off x="609600" y="1571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3E34"/>
                </a:solidFill>
                <a:latin typeface="Arial"/>
                <a:ea typeface="Arial"/>
                <a:cs typeface="Arial"/>
              </a:defRPr>
            </a:defPPr>
          </a:lstStyle>
          <a:p xmlns:a="http://schemas.openxmlformats.org/drawingml/2006/main">
            <a:pPr>
              <a:defRPr sz="3600" b="1">
                <a:solidFill>
                  <a:srgbClr val="153E34"/>
                </a:solidFill>
                <a:latin typeface="Arial"/>
                <a:ea typeface="Arial"/>
                <a:cs typeface="Arial"/>
              </a:defRPr>
            </a:pPr>
            <a:r>
              <a:rPr sz="3600" b="1">
                <a:solidFill>
                  <a:srgbClr val="153E34"/>
                </a:solidFill>
                <a:latin typeface="Arial"/>
                <a:ea typeface="Arial"/>
                <a:cs typeface="Arial"/>
              </a:rPr>
              <a:t>Ready for local demonstration</a:t>
            </a:r>
          </a:p>
        </p:txBody>
      </p:sp>
      <p:sp>
        <p:nvSpPr>
          <p:cNvPr id="4" name="">
            <a:extLst xmlns:a="http://schemas.openxmlformats.org/drawingml/2006/main">
              <a:ext uri="{FF2B5EF4-FFF2-40B4-BE49-F238E27FC236}">
                <a16:creationId xmlns:a16="http://schemas.microsoft.com/office/drawing/2014/main" id="{0A1B27CC-7015-4B4B-97CA-A9E0F1678714}"/>
              </a:ext>
            </a:extLst>
          </p:cNvPr>
          <p:cNvSpPr>
            <a:spLocks xmlns:a="http://schemas.openxmlformats.org/drawingml/2006/main" noGrp="1"/>
          </p:cNvSpPr>
          <p:nvPr/>
        </p:nvSpPr>
        <p:spPr>
          <a:xfrm xmlns:a="http://schemas.openxmlformats.org/drawingml/2006/main">
            <a:off x="609600" y="300037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4796C"/>
                </a:solidFill>
                <a:latin typeface="Arial"/>
                <a:ea typeface="Arial"/>
                <a:cs typeface="Arial"/>
              </a:defRPr>
            </a:defPPr>
          </a:lstStyle>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Application source and persistent database implementation</a:t>
            </a:r>
          </a:p>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Chrome extension source and supported demo fixture</a:t>
            </a:r>
          </a:p>
          <a:p xmlns:a="http://schemas.openxmlformats.org/drawingml/2006/main">
            <a:pPr>
              <a:defRPr sz="2250" b="0">
                <a:solidFill>
                  <a:srgbClr val="64796C"/>
                </a:solidFill>
                <a:latin typeface="Arial"/>
                <a:ea typeface="Arial"/>
                <a:cs typeface="Arial"/>
              </a:defRPr>
            </a:pPr>
            <a:r>
              <a:rPr sz="2250" b="0">
                <a:solidFill>
                  <a:srgbClr val="64796C"/>
                </a:solidFill>
                <a:latin typeface="Arial"/>
                <a:ea typeface="Arial"/>
                <a:cs typeface="Arial"/>
              </a:rPr>
              <a:t>Tests, README and a timed recording guide</a:t>
            </a:r>
          </a:p>
        </p:txBody>
      </p:sp>
      <p:sp>
        <p:nvSpPr>
          <p:cNvPr id="5" name="">
            <a:extLst xmlns:a="http://schemas.openxmlformats.org/drawingml/2006/main">
              <a:ext uri="{FF2B5EF4-FFF2-40B4-BE49-F238E27FC236}">
                <a16:creationId xmlns:a16="http://schemas.microsoft.com/office/drawing/2014/main" id="{B1F6AE52-4D0E-450B-9374-AE0B3E74EB4D}"/>
              </a:ext>
            </a:extLst>
          </p:cNvPr>
          <p:cNvSpPr>
            <a:spLocks xmlns:a="http://schemas.openxmlformats.org/drawingml/2006/main" noGrp="1"/>
          </p:cNvSpPr>
          <p:nvPr/>
        </p:nvSpPr>
        <p:spPr>
          <a:xfrm xmlns:a="http://schemas.openxmlformats.org/drawingml/2006/main">
            <a:off x="609600" y="5572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53E34"/>
                </a:solidFill>
                <a:latin typeface="Arial"/>
                <a:ea typeface="Arial"/>
                <a:cs typeface="Arial"/>
              </a:defRPr>
            </a:defPPr>
          </a:lstStyle>
          <a:p xmlns:a="http://schemas.openxmlformats.org/drawingml/2006/main">
            <a:pPr>
              <a:defRPr sz="1950" b="1">
                <a:solidFill>
                  <a:srgbClr val="153E34"/>
                </a:solidFill>
                <a:latin typeface="Arial"/>
                <a:ea typeface="Arial"/>
                <a:cs typeface="Arial"/>
              </a:defRPr>
            </a:pPr>
            <a:r>
              <a:rPr sz="1950" b="1">
                <a:solidFill>
                  <a:srgbClr val="153E34"/>
                </a:solidFill>
                <a:latin typeface="Arial"/>
                <a:ea typeface="Arial"/>
                <a:cs typeface="Arial"/>
              </a:rPr>
              <a:t>Next: manual extension check and authorized AWS deployment</a:t>
            </a:r>
          </a:p>
        </p:txBody>
      </p:sp>
    </p:spTree>
    <p:extLst>
      <p:ext uri="{BB962C8B-B14F-4D97-AF65-F5344CB8AC3E}">
        <p14:creationId xmlns:p14="http://schemas.microsoft.com/office/powerpoint/2010/main" val="903179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2026-10-17T04:22:52.8830000Z</dcterms:created>
  <dcterms:modified xsi:type="dcterms:W3CDTF">2026-10-17T04:22:52.8840000Z</dcterms:modified>
</coreProperties>
</file>